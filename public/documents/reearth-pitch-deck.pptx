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35DA-EC02-F06C-71EC-668DC9306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31EF8-69C5-C4BA-DEE8-18FB9901C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4734-EF50-7C4B-8380-50103305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408C-B69C-E0D7-A34E-8BACEE57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18A0B-FCB2-53CC-4A49-47FA625F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9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C8C77-471A-8078-F2BF-F729DFF4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FB114-4128-4C0C-9C9D-677AAAB85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93E53-ACA3-A631-72AF-E28A6C26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4C80-D113-E0A8-73E8-AD60CD9F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34C7A-195A-40B4-7662-5B8C463C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5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02FB-58ED-212D-1931-7F395F9F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2B406-4E56-7E9A-E70B-5E1A5F3F2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F37FA-EF4A-09D3-47F6-E6736CD8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FEDD3-9B0D-E754-574D-0552F643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A71DA-41AD-88DB-D893-0127797F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8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3DA33-B23A-4C11-BCA6-181D7BDFF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F201-C9A2-3287-9F3F-21B77954A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14922-C618-9884-A6AE-CAB7EF73E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9E59F-EBE7-AEF5-132A-8D7856CF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A9ACD-4F6B-0A88-0F93-25AD9E90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72C26-8F56-9574-FD86-A306C63C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6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1D90-DAC3-AF7B-1878-2D13CB57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3C254-B45D-C104-18A3-E25E748C8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E5830-20FA-BCE6-EE3C-B21C4B656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C3C9C-200C-66C4-A138-E0431781F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C99E1-1483-60F5-06DC-6948E4604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00F5A-D52C-BB6F-E054-1E2C74DF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FA644A-992D-B840-B576-571F8BCA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2FFD91-D058-5174-D8FA-F61AEDCE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3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1CED-9B36-E5BA-5168-E1CCB620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7D0CD-43C2-D8A5-A8AE-EF9A2025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C4336-301B-A75A-64DB-B69ADC9A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FD481-9D10-5F8F-8DB3-BB85233F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7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BB43C-6421-87D5-AB37-55FC907B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92816-4B71-5DBF-D6D9-31FCA9AA7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35F3E-1964-3BA9-4285-5FAEE7EA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64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3990-1C34-6999-9892-5DEE28375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92DA-3D92-A114-F5C9-97D27EEC0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D9B9B-A6B6-9C0D-9187-C349A387B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3D279-04CB-BF0B-4A09-03F7ADE5D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396FC-60E0-2572-ACE0-1FAA7833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74C9E-FFE0-79E4-9D4B-2B192D94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06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D9B18-D4E8-1917-258F-4F089482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22B14-C5DD-A88C-5064-102A22D82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268C5-0857-0EAD-6C80-CE2873E30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8293-A5EE-2C6B-EAAF-1D3CAB42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3879F-F149-FA3F-0E46-83A45AEF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5415B-617E-098B-9168-AB92A620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17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BB8A-6603-D56C-661E-07E04997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7B8DF-2E11-59BD-28FF-600647CEF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80DBF-112C-AD12-4C5A-23DCD6571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891A7-1506-58A0-F57E-11D8B19A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33645-2419-602F-D5C3-5F208BED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75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E4C22-7D64-548D-F39C-A394CA692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49773-66BE-557A-ABB5-2D88123FE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270DB-C7B7-FFED-4BDA-7860F895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6B40F-8A10-B10D-10E3-5D7FF58C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3D95B-B41A-86D4-E15D-8001731B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69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2B96AE-3D5C-FEF5-DFAB-EEE538D78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07DC4-1C06-A7C6-C92B-ED1974EE4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BE774-F38F-A31D-87BD-156D0FFE9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6C4B6-10C1-43E1-B530-EF521956967F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9E2D7-69D3-C9C8-3011-8177BF411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25CDA-2097-87DD-699F-AB297A467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8F79F-0DA5-4C87-BD7B-6ED0E1A9C6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69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AFE13F-A432-A9C0-D504-95C6BB4A0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165"/>
            <a:ext cx="12192000" cy="510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2EC8B-5D67-B05F-01A4-6F98D107B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3835"/>
            <a:ext cx="12192000" cy="510366"/>
          </a:xfrm>
          <a:prstGeom prst="rect">
            <a:avLst/>
          </a:prstGeom>
        </p:spPr>
      </p:pic>
      <p:pic>
        <p:nvPicPr>
          <p:cNvPr id="11" name="Picture 10" descr="A green and yellow logo">
            <a:extLst>
              <a:ext uri="{FF2B5EF4-FFF2-40B4-BE49-F238E27FC236}">
                <a16:creationId xmlns:a16="http://schemas.microsoft.com/office/drawing/2014/main" id="{A35C8742-B9CD-EE2C-8D9C-DDC9E3A248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40" y="1635760"/>
            <a:ext cx="4216400" cy="36271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14D965-9941-7783-B7C0-7109A5FBFBF4}"/>
              </a:ext>
            </a:extLst>
          </p:cNvPr>
          <p:cNvSpPr txBox="1"/>
          <p:nvPr/>
        </p:nvSpPr>
        <p:spPr>
          <a:xfrm>
            <a:off x="4887110" y="1086858"/>
            <a:ext cx="2417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ReEarth</a:t>
            </a:r>
            <a:endParaRPr lang="en-IN" b="1" u="sng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D5F08-45F3-F63E-3A58-074D25C62961}"/>
              </a:ext>
            </a:extLst>
          </p:cNvPr>
          <p:cNvSpPr txBox="1"/>
          <p:nvPr/>
        </p:nvSpPr>
        <p:spPr>
          <a:xfrm>
            <a:off x="3042173" y="2057699"/>
            <a:ext cx="6107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“Where Recycling Meets Planet Restoration.”</a:t>
            </a:r>
            <a:endParaRPr lang="en-IN" sz="2400" b="1" i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0D035-9732-FD99-CCDA-56C3BD41B0ED}"/>
              </a:ext>
            </a:extLst>
          </p:cNvPr>
          <p:cNvSpPr txBox="1"/>
          <p:nvPr/>
        </p:nvSpPr>
        <p:spPr>
          <a:xfrm>
            <a:off x="2697256" y="2937417"/>
            <a:ext cx="679748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GB" sz="32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Anubhav</a:t>
            </a:r>
            <a:r>
              <a:rPr lang="en-GB" sz="32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 Chahar</a:t>
            </a:r>
            <a:endParaRPr lang="en-IN" sz="32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B6733C-99F1-138C-85F8-84FDFB02BDAA}"/>
              </a:ext>
            </a:extLst>
          </p:cNvPr>
          <p:cNvSpPr txBox="1"/>
          <p:nvPr/>
        </p:nvSpPr>
        <p:spPr>
          <a:xfrm>
            <a:off x="3047104" y="5339396"/>
            <a:ext cx="6094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Planet-first impact. </a:t>
            </a:r>
          </a:p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Business-ready execution.</a:t>
            </a:r>
          </a:p>
        </p:txBody>
      </p:sp>
    </p:spTree>
    <p:extLst>
      <p:ext uri="{BB962C8B-B14F-4D97-AF65-F5344CB8AC3E}">
        <p14:creationId xmlns:p14="http://schemas.microsoft.com/office/powerpoint/2010/main" val="216257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A1DFF-7891-8158-CCDC-06BF01A3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7DD807-434F-EAE0-9AA5-1DFF5D512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165"/>
            <a:ext cx="12192000" cy="510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74DBEA-6F7F-9506-0AFA-DDD626A02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3835"/>
            <a:ext cx="12192000" cy="510366"/>
          </a:xfrm>
          <a:prstGeom prst="rect">
            <a:avLst/>
          </a:prstGeom>
        </p:spPr>
      </p:pic>
      <p:pic>
        <p:nvPicPr>
          <p:cNvPr id="2" name="Picture 1" descr="A green and yellow logo">
            <a:extLst>
              <a:ext uri="{FF2B5EF4-FFF2-40B4-BE49-F238E27FC236}">
                <a16:creationId xmlns:a16="http://schemas.microsoft.com/office/drawing/2014/main" id="{20FB9EEF-2702-FF97-DECF-A09AE29D7274}"/>
              </a:ext>
            </a:extLst>
          </p:cNvPr>
          <p:cNvPicPr/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40" y="1635760"/>
            <a:ext cx="4216400" cy="3627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9124F8-02E3-0BE3-8D8B-3019ED156F24}"/>
              </a:ext>
            </a:extLst>
          </p:cNvPr>
          <p:cNvSpPr txBox="1"/>
          <p:nvPr/>
        </p:nvSpPr>
        <p:spPr>
          <a:xfrm>
            <a:off x="3245223" y="457201"/>
            <a:ext cx="570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EXPRESSION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518541-2C8E-E9C9-F789-9BAF32B74B6F}"/>
              </a:ext>
            </a:extLst>
          </p:cNvPr>
          <p:cNvSpPr txBox="1"/>
          <p:nvPr/>
        </p:nvSpPr>
        <p:spPr>
          <a:xfrm>
            <a:off x="227702" y="1114808"/>
            <a:ext cx="117365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sz="2000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 produces 3.5 million tonnes of plastic waste a year, and 30% of EPR certificates are suspected to be fake.</a:t>
            </a:r>
            <a:br>
              <a:rPr lang="en-GB" sz="2000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Yet businesses spend 50 hours a month just chasing recyclers.</a:t>
            </a:r>
            <a:br>
              <a:rPr lang="en-GB" sz="2000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still no secure, subscription-based compliance solution </a:t>
            </a:r>
          </a:p>
          <a:p>
            <a:pPr algn="ctr"/>
            <a:r>
              <a:rPr lang="en-GB" sz="2000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until now.”</a:t>
            </a:r>
            <a:endParaRPr lang="en-IN" sz="2000" i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CEB10-5F05-2A36-954A-8805244C0AEE}"/>
              </a:ext>
            </a:extLst>
          </p:cNvPr>
          <p:cNvSpPr txBox="1"/>
          <p:nvPr/>
        </p:nvSpPr>
        <p:spPr>
          <a:xfrm>
            <a:off x="123712" y="2438247"/>
            <a:ext cx="119445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Plastic-producing SMEs and D2C brands who struggle to manage EPR compliance efficiently.</a:t>
            </a:r>
          </a:p>
          <a:p>
            <a:pPr algn="just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</a:t>
            </a:r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unreliable recyclers, fake certificates, unpredictable pricing, and heavy audit pressure.</a:t>
            </a:r>
          </a:p>
          <a:p>
            <a:pPr algn="just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service is </a:t>
            </a:r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subscription-based, one-stop EPR compliance platform</a:t>
            </a:r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</a:t>
            </a:r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Guaranteed verified recycling, authentic CPCB-aligned certificates, real-time tracking, and predictable monthly costs.</a:t>
            </a:r>
          </a:p>
          <a:p>
            <a:pPr algn="just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</a:t>
            </a:r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 contracts, marketplace credit sellers, and manual compliance processes.</a:t>
            </a:r>
          </a:p>
          <a:p>
            <a:pPr algn="just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assembled </a:t>
            </a:r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verified recycler network, a secure certificate verification engine, and a live compliance dashboard that makes EPR as easy as subscribing to Netflix.</a:t>
            </a:r>
          </a:p>
        </p:txBody>
      </p:sp>
    </p:spTree>
    <p:extLst>
      <p:ext uri="{BB962C8B-B14F-4D97-AF65-F5344CB8AC3E}">
        <p14:creationId xmlns:p14="http://schemas.microsoft.com/office/powerpoint/2010/main" val="295462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C8A1-A4B3-1770-2E7C-EDC3CF13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1ACBCC-0C7A-3516-DF2D-565E08BE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165"/>
            <a:ext cx="12192000" cy="510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1B3DF8-C473-BA18-1871-52109DE47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3835"/>
            <a:ext cx="12192000" cy="510366"/>
          </a:xfrm>
          <a:prstGeom prst="rect">
            <a:avLst/>
          </a:prstGeom>
        </p:spPr>
      </p:pic>
      <p:pic>
        <p:nvPicPr>
          <p:cNvPr id="2" name="Picture 1" descr="A green and yellow logo">
            <a:extLst>
              <a:ext uri="{FF2B5EF4-FFF2-40B4-BE49-F238E27FC236}">
                <a16:creationId xmlns:a16="http://schemas.microsoft.com/office/drawing/2014/main" id="{1FF32697-8D9E-623E-778B-0380B4689F1B}"/>
              </a:ext>
            </a:extLst>
          </p:cNvPr>
          <p:cNvPicPr/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40" y="1635760"/>
            <a:ext cx="4216400" cy="36271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D12041-D486-54E4-8635-B48F0C6D0488}"/>
              </a:ext>
            </a:extLst>
          </p:cNvPr>
          <p:cNvSpPr txBox="1"/>
          <p:nvPr/>
        </p:nvSpPr>
        <p:spPr>
          <a:xfrm>
            <a:off x="2926079" y="457201"/>
            <a:ext cx="6339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ENVISIONING THE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9D3AD-FA3B-7E70-F813-F5A90BD401CB}"/>
              </a:ext>
            </a:extLst>
          </p:cNvPr>
          <p:cNvSpPr txBox="1"/>
          <p:nvPr/>
        </p:nvSpPr>
        <p:spPr>
          <a:xfrm>
            <a:off x="208279" y="1229929"/>
            <a:ext cx="56869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algn="just">
              <a:buNone/>
            </a:pPr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638" indent="-274638" algn="just">
              <a:buFont typeface="+mj-lt"/>
              <a:buAutoNum type="arabicPeriod"/>
              <a:tabLst>
                <a:tab pos="623888" algn="l"/>
              </a:tabLst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Companies face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and fluctuating recycling costs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74638" indent="-274638" algn="just">
              <a:buFont typeface="+mj-lt"/>
              <a:buAutoNum type="arabicPeriod"/>
              <a:tabLst>
                <a:tab pos="623888" algn="l"/>
              </a:tabLst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EPR compliance processes are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manual, inefficient, and time-consuming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74638" indent="-274638" algn="just">
              <a:buFont typeface="+mj-lt"/>
              <a:buAutoNum type="arabicPeriod"/>
              <a:tabLst>
                <a:tab pos="623888" algn="l"/>
              </a:tabLst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Businesses cannot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recycling claims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audit vulnerabilities.</a:t>
            </a:r>
          </a:p>
          <a:p>
            <a:pPr marL="274638" indent="-274638" algn="just">
              <a:buFont typeface="+mj-lt"/>
              <a:buAutoNum type="arabicPeriod"/>
              <a:tabLst>
                <a:tab pos="623888" algn="l"/>
              </a:tabLst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platform provides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recycling visibility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trusted reports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Cause</a:t>
            </a:r>
          </a:p>
          <a:p>
            <a:pPr algn="just">
              <a:buNone/>
            </a:pPr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fragmented compliance ecosystem with no unified, transparent, or accountable system for verified recycling.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38CA0-B938-6A14-7DEB-DBB99911036D}"/>
              </a:ext>
            </a:extLst>
          </p:cNvPr>
          <p:cNvSpPr txBox="1"/>
          <p:nvPr/>
        </p:nvSpPr>
        <p:spPr>
          <a:xfrm>
            <a:off x="6296809" y="1229929"/>
            <a:ext cx="56869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Players </a:t>
            </a:r>
          </a:p>
          <a:p>
            <a:pPr algn="just">
              <a:buNone/>
            </a:pPr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Recykal</a:t>
            </a:r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digital EPR compliance services but relies on multiple recyclers, leading to limited transparency.</a:t>
            </a:r>
          </a:p>
          <a:p>
            <a:pPr algn="just">
              <a:buNone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Saahas Zero Waste</a:t>
            </a:r>
          </a:p>
          <a:p>
            <a:pPr algn="just">
              <a:buNone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Offers on-ground waste collection and recycling but is operationally heavy and expensive for SMEs.</a:t>
            </a:r>
          </a:p>
          <a:p>
            <a:pPr algn="just">
              <a:buNone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Banyan Nation</a:t>
            </a:r>
          </a:p>
          <a:p>
            <a:pPr algn="just">
              <a:buNone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plastic recycler focused on large brands, but not built for scalable, subscription-based impact.</a:t>
            </a:r>
          </a:p>
        </p:txBody>
      </p:sp>
    </p:spTree>
    <p:extLst>
      <p:ext uri="{BB962C8B-B14F-4D97-AF65-F5344CB8AC3E}">
        <p14:creationId xmlns:p14="http://schemas.microsoft.com/office/powerpoint/2010/main" val="125316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8F2F6-FD76-9AFA-92AF-9E4A47E9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79BB60-6DB2-29A2-2226-67758C61E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165"/>
            <a:ext cx="12192000" cy="510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49F093-E22C-D5B2-E6B7-730F4AD5D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3835"/>
            <a:ext cx="12192000" cy="510366"/>
          </a:xfrm>
          <a:prstGeom prst="rect">
            <a:avLst/>
          </a:prstGeom>
        </p:spPr>
      </p:pic>
      <p:pic>
        <p:nvPicPr>
          <p:cNvPr id="2" name="Picture 1" descr="A green and yellow logo">
            <a:extLst>
              <a:ext uri="{FF2B5EF4-FFF2-40B4-BE49-F238E27FC236}">
                <a16:creationId xmlns:a16="http://schemas.microsoft.com/office/drawing/2014/main" id="{9C22020B-EE97-52F0-A6BD-3309D3ACD36B}"/>
              </a:ext>
            </a:extLst>
          </p:cNvPr>
          <p:cNvPicPr/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40" y="1635760"/>
            <a:ext cx="4216400" cy="3627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F54CD3-534A-BFC6-E3F1-574B2AD320A7}"/>
              </a:ext>
            </a:extLst>
          </p:cNvPr>
          <p:cNvSpPr txBox="1"/>
          <p:nvPr/>
        </p:nvSpPr>
        <p:spPr>
          <a:xfrm>
            <a:off x="214258" y="457201"/>
            <a:ext cx="564507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algn="just">
              <a:buNone/>
            </a:pPr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India’s EPR regulations are becoming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stringent every year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Companies risk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penalties, product bans, or brand damage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non-compliance.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SMEs lack internal compliance teams or technology to manage it efficiently.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recycling industry lacks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reporting, quality control, and traceability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Triggers</a:t>
            </a: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audit season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CPCB compliance deadlines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Sustainability/ESG reporting cycles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Non-Triggers</a:t>
            </a: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Months without strict compliance or audits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Businesses unaware of EPR implications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59FB8-F468-3BE1-0B60-2C94EEF2A525}"/>
              </a:ext>
            </a:extLst>
          </p:cNvPr>
          <p:cNvSpPr txBox="1"/>
          <p:nvPr/>
        </p:nvSpPr>
        <p:spPr>
          <a:xfrm>
            <a:off x="6332668" y="457201"/>
            <a:ext cx="564507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</a:p>
          <a:p>
            <a:pPr algn="just"/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operational cost due to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manual processes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trust due to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or unreliable certificates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risk of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compliance penalties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actions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ESG credibility becomes questionable, impacting funding and partnerships.</a:t>
            </a:r>
          </a:p>
          <a:p>
            <a:pPr algn="just"/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Ripple Effects</a:t>
            </a:r>
          </a:p>
          <a:p>
            <a:pPr algn="just"/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inefficiency → audit failures → legal issues → slowed growth → damaged brand reputation.</a:t>
            </a:r>
          </a:p>
        </p:txBody>
      </p:sp>
    </p:spTree>
    <p:extLst>
      <p:ext uri="{BB962C8B-B14F-4D97-AF65-F5344CB8AC3E}">
        <p14:creationId xmlns:p14="http://schemas.microsoft.com/office/powerpoint/2010/main" val="66643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0DCA4-F3C0-4060-B310-ECB33B93B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62073D-4F9C-F1A2-C7B5-36F93384E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165"/>
            <a:ext cx="12192000" cy="510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983786-2208-D83A-C479-773E4BC3E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3835"/>
            <a:ext cx="12192000" cy="510366"/>
          </a:xfrm>
          <a:prstGeom prst="rect">
            <a:avLst/>
          </a:prstGeom>
        </p:spPr>
      </p:pic>
      <p:pic>
        <p:nvPicPr>
          <p:cNvPr id="2" name="Picture 1" descr="A green and yellow logo">
            <a:extLst>
              <a:ext uri="{FF2B5EF4-FFF2-40B4-BE49-F238E27FC236}">
                <a16:creationId xmlns:a16="http://schemas.microsoft.com/office/drawing/2014/main" id="{4B31DC11-F7DD-172C-DA6E-1E80148C222C}"/>
              </a:ext>
            </a:extLst>
          </p:cNvPr>
          <p:cNvPicPr/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40" y="1635760"/>
            <a:ext cx="4216400" cy="3627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D3881-CAC5-ECDB-7BB2-16B0A563259B}"/>
              </a:ext>
            </a:extLst>
          </p:cNvPr>
          <p:cNvSpPr txBox="1"/>
          <p:nvPr/>
        </p:nvSpPr>
        <p:spPr>
          <a:xfrm>
            <a:off x="214259" y="1093618"/>
            <a:ext cx="564507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Alternatives (Current Market Options)</a:t>
            </a:r>
          </a:p>
          <a:p>
            <a:pPr algn="just"/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Recyclers: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Offer services but provide limited documentation and poor traceability.</a:t>
            </a:r>
          </a:p>
          <a:p>
            <a:pPr marL="355600" indent="-355600" algn="just">
              <a:buFont typeface="+mj-lt"/>
              <a:buAutoNum type="arabicPeriod"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Expensive and not built for SMEs; processes are not automated.</a:t>
            </a:r>
          </a:p>
          <a:p>
            <a:pPr marL="355600" indent="-355600" algn="just">
              <a:buFont typeface="+mj-lt"/>
              <a:buAutoNum type="arabicPeriod"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Marketplaces: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Sell EPR credits but cannot ensure authenticity or ground-level recycling.</a:t>
            </a:r>
          </a:p>
          <a:p>
            <a:pPr marL="355600" indent="-355600" algn="just">
              <a:buFont typeface="+mj-lt"/>
              <a:buAutoNum type="arabicPeriod"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In-house Compliance: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 cost, requires expertise, not scalable for most businesses.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3C046-A13D-98B6-D92F-6F4909050748}"/>
              </a:ext>
            </a:extLst>
          </p:cNvPr>
          <p:cNvSpPr txBox="1"/>
          <p:nvPr/>
        </p:nvSpPr>
        <p:spPr>
          <a:xfrm>
            <a:off x="6332669" y="612844"/>
            <a:ext cx="56450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&amp; Value (</a:t>
            </a: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ReEarth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Business Value)</a:t>
            </a:r>
          </a:p>
          <a:p>
            <a:pPr algn="just"/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GB" sz="2000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ReEarth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tech-enabled, subscription-based recycling platform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delivers: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recycling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digital traceability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Predictable, transparent pricing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through subscriptions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Audit-ready reports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reduce compliance risk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through automation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dashboards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data-driven decision-making</a:t>
            </a:r>
          </a:p>
          <a:p>
            <a:pPr algn="just"/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Motivation</a:t>
            </a:r>
          </a:p>
          <a:p>
            <a:pPr algn="just"/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compliance risk, lower operational cost, increase transparency, and enable brands to scale sustainably.</a:t>
            </a:r>
          </a:p>
        </p:txBody>
      </p:sp>
    </p:spTree>
    <p:extLst>
      <p:ext uri="{BB962C8B-B14F-4D97-AF65-F5344CB8AC3E}">
        <p14:creationId xmlns:p14="http://schemas.microsoft.com/office/powerpoint/2010/main" val="179166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55CC-2076-DD90-DA48-1F010C40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3C3B46-928E-C4CB-502B-533B276DD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165"/>
            <a:ext cx="12192000" cy="510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D1CB92-8F1A-E162-5C82-787297EE2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3835"/>
            <a:ext cx="12192000" cy="510366"/>
          </a:xfrm>
          <a:prstGeom prst="rect">
            <a:avLst/>
          </a:prstGeom>
        </p:spPr>
      </p:pic>
      <p:pic>
        <p:nvPicPr>
          <p:cNvPr id="2" name="Picture 1" descr="A green and yellow logo">
            <a:extLst>
              <a:ext uri="{FF2B5EF4-FFF2-40B4-BE49-F238E27FC236}">
                <a16:creationId xmlns:a16="http://schemas.microsoft.com/office/drawing/2014/main" id="{61508CEB-CC79-7718-B3EA-5BD57E69E187}"/>
              </a:ext>
            </a:extLst>
          </p:cNvPr>
          <p:cNvPicPr/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40" y="1635760"/>
            <a:ext cx="4216400" cy="3627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03ABB4-85A1-B684-E580-15345A66F87C}"/>
              </a:ext>
            </a:extLst>
          </p:cNvPr>
          <p:cNvSpPr txBox="1"/>
          <p:nvPr/>
        </p:nvSpPr>
        <p:spPr>
          <a:xfrm>
            <a:off x="410583" y="759251"/>
            <a:ext cx="1137083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 Why NOW?</a:t>
            </a:r>
          </a:p>
          <a:p>
            <a:pPr algn="just">
              <a:buNone/>
            </a:pPr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India’s EPR rules are becoming stricter, and companies urgently need </a:t>
            </a:r>
            <a:r>
              <a:rPr lang="en-GB" sz="2000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trusted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recycling systems.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Plastic waste is rising, but verified recycling solutions are still fragmented and unreliable.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Businesses now prioritize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ESG, traceability, and sustainability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creating a fast-growing market.</a:t>
            </a:r>
          </a:p>
          <a:p>
            <a:pPr marL="355600" indent="-355600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major player offers a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planet-first, subscription-based verified recycling model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leaving a clear opportunity.</a:t>
            </a:r>
          </a:p>
          <a:p>
            <a:pPr algn="just">
              <a:buNone/>
            </a:pPr>
            <a:b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0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 Why ME?</a:t>
            </a:r>
          </a:p>
          <a:p>
            <a:pPr algn="just">
              <a:buNone/>
            </a:pPr>
            <a:endParaRPr lang="en-GB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 indent="-371475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understand the core problem from both a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planet perspective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pain perspective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71475" indent="-371475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bring a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tech-first, product-thinking mindset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this outdated sector desperately needs.</a:t>
            </a:r>
          </a:p>
          <a:p>
            <a:pPr marL="371475" indent="-371475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can design a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scalable, and transparent solution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existing players are complex and costly.</a:t>
            </a:r>
          </a:p>
          <a:p>
            <a:pPr marL="371475" indent="-371475" algn="just">
              <a:buFont typeface="+mj-lt"/>
              <a:buAutoNum type="arabicPeriod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committed to building </a:t>
            </a:r>
            <a:r>
              <a:rPr lang="en-GB" sz="20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ReEarth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mission-led venture that blends impact with innovative business models.</a:t>
            </a:r>
          </a:p>
        </p:txBody>
      </p:sp>
    </p:spTree>
    <p:extLst>
      <p:ext uri="{BB962C8B-B14F-4D97-AF65-F5344CB8AC3E}">
        <p14:creationId xmlns:p14="http://schemas.microsoft.com/office/powerpoint/2010/main" val="2975985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EF92-AE4B-8C79-BBDB-27314842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4A4565-E6D1-0E76-EA5C-279F9F282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165"/>
            <a:ext cx="12192000" cy="510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08FE6-D514-3ACC-8C76-B432E5BC7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3835"/>
            <a:ext cx="12192000" cy="510366"/>
          </a:xfrm>
          <a:prstGeom prst="rect">
            <a:avLst/>
          </a:prstGeom>
        </p:spPr>
      </p:pic>
      <p:pic>
        <p:nvPicPr>
          <p:cNvPr id="2" name="Picture 1" descr="A green and yellow logo">
            <a:extLst>
              <a:ext uri="{FF2B5EF4-FFF2-40B4-BE49-F238E27FC236}">
                <a16:creationId xmlns:a16="http://schemas.microsoft.com/office/drawing/2014/main" id="{372876D1-8F5D-6CDF-6189-2E5E2E14E93E}"/>
              </a:ext>
            </a:extLst>
          </p:cNvPr>
          <p:cNvPicPr/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40" y="1635760"/>
            <a:ext cx="4216400" cy="3627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4F5C01-4AEB-4F65-EDAB-6AA825BD2508}"/>
              </a:ext>
            </a:extLst>
          </p:cNvPr>
          <p:cNvSpPr txBox="1"/>
          <p:nvPr/>
        </p:nvSpPr>
        <p:spPr>
          <a:xfrm>
            <a:off x="410583" y="3136695"/>
            <a:ext cx="11370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3200" b="1" i="1" u="sng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“Waste is the new opportunity — let’s monetize it responsibly.”</a:t>
            </a:r>
          </a:p>
        </p:txBody>
      </p:sp>
    </p:spTree>
    <p:extLst>
      <p:ext uri="{BB962C8B-B14F-4D97-AF65-F5344CB8AC3E}">
        <p14:creationId xmlns:p14="http://schemas.microsoft.com/office/powerpoint/2010/main" val="37176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97F0-1697-86E6-AFDA-BCC5F9C1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76B9E5-3144-F459-0D6C-BE137F14B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165"/>
            <a:ext cx="12192000" cy="510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B897A3-EFB7-00F6-9F80-0CEEA112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3835"/>
            <a:ext cx="12192000" cy="510366"/>
          </a:xfrm>
          <a:prstGeom prst="rect">
            <a:avLst/>
          </a:prstGeom>
        </p:spPr>
      </p:pic>
      <p:pic>
        <p:nvPicPr>
          <p:cNvPr id="2" name="Picture 1" descr="A green and yellow logo">
            <a:extLst>
              <a:ext uri="{FF2B5EF4-FFF2-40B4-BE49-F238E27FC236}">
                <a16:creationId xmlns:a16="http://schemas.microsoft.com/office/drawing/2014/main" id="{ECF65D3C-5A96-F3C2-B056-926244193D0A}"/>
              </a:ext>
            </a:extLst>
          </p:cNvPr>
          <p:cNvPicPr/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240" y="1635760"/>
            <a:ext cx="4216400" cy="3627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E6B8A2-DA65-E4A7-1FE5-E05719E4014A}"/>
              </a:ext>
            </a:extLst>
          </p:cNvPr>
          <p:cNvSpPr txBox="1"/>
          <p:nvPr/>
        </p:nvSpPr>
        <p:spPr>
          <a:xfrm>
            <a:off x="410583" y="3136612"/>
            <a:ext cx="11370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3200" b="1" i="1" u="sng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3647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703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ANUBHAV SINGH CHAHAR</dc:creator>
  <cp:lastModifiedBy>ANUBHAV SINGH CHAHAR</cp:lastModifiedBy>
  <cp:revision>4</cp:revision>
  <dcterms:created xsi:type="dcterms:W3CDTF">2025-11-19T04:20:17Z</dcterms:created>
  <dcterms:modified xsi:type="dcterms:W3CDTF">2025-11-21T05:37:58Z</dcterms:modified>
</cp:coreProperties>
</file>